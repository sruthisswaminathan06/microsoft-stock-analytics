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  <p:embeddedFont>
      <p:font typeface="JetBrains Mono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13770"/>
            <a:ext cx="78105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213770"/>
            <a:ext cx="781050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095500"/>
            <a:ext cx="2667000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850" y="2971800"/>
            <a:ext cx="8001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282130"/>
            <a:ext cx="9763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A4EF"/>
                </a:solidFill>
                <a:latin typeface="JetBrains Mono"/>
              </a:rPr>
              <a:t>QUANTITATIVE MARKET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20255"/>
            <a:ext cx="10251281" cy="607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Inter"/>
              </a:rPr>
              <a:t>Microsoft Analytics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99370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A3A3A3"/>
                </a:solidFill>
                <a:latin typeface="Inter"/>
              </a:rPr>
              <a:t>Quantitative risk evaluation, market trajectory, and benchmark alpha analysis for MSFT from January 2021 to Present.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89995"/>
            <a:ext cx="2381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37373"/>
                </a:solidFill>
                <a:latin typeface="JetBrains Mono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80495"/>
            <a:ext cx="2381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5E5E5"/>
                </a:solidFill>
                <a:latin typeface="Inter"/>
              </a:rPr>
              <a:t>Streamlit · Plotly · yFinance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9400" y="4489995"/>
            <a:ext cx="1857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37373"/>
                </a:solidFill>
                <a:latin typeface="JetBrains Mono"/>
              </a:rPr>
              <a:t>TIMEFRAME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9400" y="4680495"/>
            <a:ext cx="1857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5E5E5"/>
                </a:solidFill>
                <a:latin typeface="Inter"/>
              </a:rPr>
              <a:t>Jan 2021 —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489995"/>
            <a:ext cx="1390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37373"/>
                </a:solidFill>
                <a:latin typeface="JetBrains Mono"/>
              </a:rPr>
              <a:t>SYMBOL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680495"/>
            <a:ext cx="1390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A4EF"/>
                </a:solidFill>
                <a:latin typeface="Inter"/>
              </a:rPr>
              <a:t>NASDAQ: MSFT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26110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25910"/>
            <a:ext cx="26003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525910"/>
            <a:ext cx="26003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525910"/>
            <a:ext cx="26003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525910"/>
            <a:ext cx="26003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8875" y="4445198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KEY PERFORMANCE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Market Returns &amp; Risk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2225" y="4502348"/>
            <a:ext cx="108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JetBrains Mono"/>
              </a:rPr>
              <a:t>FULL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90" y="272593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Inter"/>
              </a:rPr>
              <a:t>CURRENT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590" y="2925960"/>
            <a:ext cx="2750343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0F172A"/>
                </a:solidFill>
                <a:latin typeface="Inter"/>
              </a:rPr>
              <a:t>$532.95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590" y="3468885"/>
            <a:ext cx="2750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B5563"/>
                </a:solidFill>
                <a:latin typeface="Inter"/>
              </a:rPr>
              <a:t>Spot market price (Oct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5415" y="272593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Inter"/>
              </a:rPr>
              <a:t>PERIOD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5415" y="2925960"/>
            <a:ext cx="2750343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0F172A"/>
                </a:solidFill>
                <a:latin typeface="Inter"/>
              </a:rPr>
              <a:t>156.8%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5415" y="3468885"/>
            <a:ext cx="2750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B5563"/>
                </a:solidFill>
                <a:latin typeface="Inter"/>
              </a:rPr>
              <a:t>Cumulative gain since Jan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6240" y="272593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Inter"/>
              </a:rPr>
              <a:t>ANNUAL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6240" y="2925960"/>
            <a:ext cx="2750343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1F2937"/>
                </a:solidFill>
                <a:latin typeface="Inter"/>
              </a:rPr>
              <a:t>27.2%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6240" y="3468885"/>
            <a:ext cx="2750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B5563"/>
                </a:solidFill>
                <a:latin typeface="Inter"/>
              </a:rPr>
              <a:t>Annualized daily standard deviation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7065" y="272593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Inter"/>
              </a:rPr>
              <a:t>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7065" y="2925960"/>
            <a:ext cx="2750343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1F2937"/>
                </a:solidFill>
                <a:latin typeface="Inter"/>
              </a:rPr>
              <a:t>0.67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7065" y="3468885"/>
            <a:ext cx="2750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B5563"/>
                </a:solidFill>
                <a:latin typeface="Inter"/>
              </a:rPr>
              <a:t>Risk-adjusted excess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5" y="4402335"/>
            <a:ext cx="731341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Inter"/>
              </a:rPr>
              <a:t>Max Historical Drawdown (-37.1%)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225" y="4611885"/>
            <a:ext cx="6965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91C1C"/>
                </a:solidFill>
                <a:latin typeface="Inter"/>
              </a:rPr>
              <a:t>Moderate tech-sector compression in late 2022 before the Copilot &amp; Azure AI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7373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97373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97373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73598"/>
            <a:ext cx="40005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73598"/>
            <a:ext cx="40005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73598"/>
            <a:ext cx="40005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178373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3178373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178373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Dashboard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26048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827"/>
                </a:solidFill>
                <a:latin typeface="Inter"/>
              </a:rPr>
              <a:t>yFinance Data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02273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Downloads split-adjusted closing prices for MSFT and ^GSPC with MultiIndex column normalization.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26048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827"/>
                </a:solidFill>
                <a:latin typeface="Inter"/>
              </a:rPr>
              <a:t>Pandas Vector Calculations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902273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Computes 50-day / 200-day rolling moving averages, annualized volatility (27.2%), and cumulative drawdowns.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26048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827"/>
                </a:solidFill>
                <a:latin typeface="Inter"/>
              </a:rPr>
              <a:t>Plotly Dark Visualizations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02273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Renders dark-themed line charts, histograms, and shaded drawdown plots using Microsoft brand colors.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16030" y="1978223"/>
            <a:ext cx="4766369" cy="11049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16030" y="3235523"/>
            <a:ext cx="4766369" cy="11049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16030" y="4492823"/>
            <a:ext cx="4766369" cy="11049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16030" y="3073598"/>
            <a:ext cx="476636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16030" y="1978223"/>
            <a:ext cx="476636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16030" y="1978223"/>
            <a:ext cx="38100" cy="11049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72875" y="1978223"/>
            <a:ext cx="9525" cy="11049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16030" y="4330898"/>
            <a:ext cx="476636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16030" y="3235523"/>
            <a:ext cx="476636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16030" y="3235523"/>
            <a:ext cx="38100" cy="11049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3235523"/>
            <a:ext cx="9525" cy="11049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16030" y="5588198"/>
            <a:ext cx="476636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16030" y="4492823"/>
            <a:ext cx="476636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6030" y="4492823"/>
            <a:ext cx="38100" cy="11049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4492823"/>
            <a:ext cx="9525" cy="11049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40098"/>
            <a:ext cx="5825430" cy="4095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BENCHMARK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Growth of $100 Invested vs S&amp;P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0830" y="2254448"/>
            <a:ext cx="507116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827"/>
                </a:solidFill>
                <a:latin typeface="Inter"/>
              </a:rPr>
              <a:t>Outperformance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0830" y="2483048"/>
            <a:ext cx="428059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B5563"/>
                </a:solidFill>
                <a:latin typeface="Inter"/>
              </a:rPr>
              <a:t>Grew $100 into $256.80 compared to $168 for the broader S&amp;P 500 benchmark.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0830" y="3511748"/>
            <a:ext cx="507116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827"/>
                </a:solidFill>
                <a:latin typeface="Inter"/>
              </a:rPr>
              <a:t>Moderate Beta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0830" y="3740348"/>
            <a:ext cx="428059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B5563"/>
                </a:solidFill>
                <a:latin typeface="Inter"/>
              </a:rPr>
              <a:t>27.2% volatility offers steady growth with lower drawdown severity than hyper-beta AI hardware plays.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0830" y="4769048"/>
            <a:ext cx="507116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827"/>
                </a:solidFill>
                <a:latin typeface="Inter"/>
              </a:rPr>
              <a:t>Cloud &amp; Copilot Catalyst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0830" y="4997648"/>
            <a:ext cx="428059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B5563"/>
                </a:solidFill>
                <a:latin typeface="Inter"/>
              </a:rPr>
              <a:t>Azure AI and Office 365 Copilot integration provided compounding revenue momentum.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02709" y="0"/>
            <a:ext cx="5989290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0270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59909" y="1831776"/>
            <a:ext cx="553209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A4EF"/>
                </a:solidFill>
                <a:latin typeface="JetBrains Mono"/>
              </a:rPr>
              <a:t>CORE BUSINESS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909" y="2069901"/>
            <a:ext cx="5428647" cy="822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Inter"/>
              </a:rPr>
              <a:t>Cloud &amp; Enterprise AI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9909" y="3045023"/>
            <a:ext cx="51701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A3A3A3"/>
                </a:solidFill>
                <a:latin typeface="Inter"/>
              </a:rPr>
              <a:t>Microsoft's transformation into an AI cloud powerhouse underpins its sustained long-term valuation gains.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909" y="3768923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A4EF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9909" y="4492823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BA00"/>
                </a:solidFill>
                <a:latin typeface="JetBrain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1859" y="3768923"/>
            <a:ext cx="517014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Azure AI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1859" y="3997523"/>
            <a:ext cx="480819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37373"/>
                </a:solidFill>
                <a:latin typeface="Inter"/>
              </a:rPr>
              <a:t>Enterprise cloud platform hosting major LLMs and custom enterprise AI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1859" y="4492823"/>
            <a:ext cx="517014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SaaS Monetization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1859" y="4721423"/>
            <a:ext cx="480819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37373"/>
                </a:solidFill>
                <a:latin typeface="Inter"/>
              </a:rPr>
              <a:t>Copilot subscriptions adding recurring ARR across commercial Microsoft 365 suites.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16335"/>
            <a:ext cx="5372100" cy="3343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192535"/>
            <a:ext cx="5372100" cy="3190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JetBrains Mono"/>
              </a:rPr>
              <a:t>RETURN &amp; RISK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Volatility Profile &amp; Drawdown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2354460"/>
            <a:ext cx="64258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827"/>
                </a:solidFill>
                <a:latin typeface="Inter"/>
              </a:rPr>
              <a:t>Monthly Return Bars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68785"/>
            <a:ext cx="4991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Inter"/>
              </a:rPr>
              <a:t>Green (#7FBA00) indicates positive months; Red (#F25022) indicates monthly declines.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2430660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827"/>
                </a:solidFill>
                <a:latin typeface="Inter"/>
              </a:rPr>
              <a:t>Max Drawdown Area (-37.1%)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2744985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Inter"/>
              </a:rPr>
              <a:t>Filled red area highlighting percentage loss from historical peak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86275" y="4405312"/>
            <a:ext cx="3219450" cy="41910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335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205037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0440" y="2871787"/>
            <a:ext cx="8951118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Inter"/>
              </a:rPr>
              <a:t>Microsoft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3187" y="3586162"/>
            <a:ext cx="6905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A3A3A3"/>
                </a:solidFill>
                <a:latin typeface="Inter"/>
              </a:rPr>
              <a:t>Run locally via VS Code terminal using </a:t>
            </a:r>
            <a:r>
              <a:rPr sz="1350" b="0" i="0" u="none">
                <a:solidFill>
                  <a:srgbClr val="00A4EF"/>
                </a:solidFill>
                <a:latin typeface="Inter"/>
              </a:rPr>
              <a:t>streamlit run msft_app.py</a:t>
            </a:r>
            <a:r>
              <a:rPr sz="1350" b="0" i="0" u="none">
                <a:solidFill>
                  <a:srgbClr val="A3A3A3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0543" y="4519612"/>
            <a:ext cx="34909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E5E5E5"/>
                </a:solidFill>
                <a:latin typeface="JetBrains Mono"/>
              </a:rPr>
              <a:t>Questions &amp; Architecture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9434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83160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237208"/>
            <a:ext cx="9227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3F4F6"/>
                </a:solidFill>
                <a:latin typeface="Inter"/>
              </a:rPr>
              <a:t>https://images.stockcake.com/public/9/5/9/95956309-7eb3-4c51-9f92-493a0c79f423_large/data-center-glow-stockcake.jpg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437233"/>
            <a:ext cx="2119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376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JetBrains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Sruthi Swaminathan</dc:creator>
  <cp:keywords/>
  <dc:description>generated using python-pptx</dc:description>
  <cp:lastModifiedBy>Swaminathan, Sruthi</cp:lastModifiedBy>
  <cp:revision>1</cp:revision>
  <dcterms:created xsi:type="dcterms:W3CDTF">2013-01-27T09:14:16Z</dcterms:created>
  <dcterms:modified xsi:type="dcterms:W3CDTF">2026-10-22T19:11:15Z</dcterms:modified>
  <cp:category/>
</cp:coreProperties>
</file>